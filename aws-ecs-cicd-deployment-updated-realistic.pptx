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25880"/>
            <a:ext cx="8138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F8FAFC"/>
                </a:solidFill>
                <a:latin typeface="Aptos Display"/>
              </a:rPr>
              <a:t>AWS ECS CI/CD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2084831"/>
            <a:ext cx="50292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9900"/>
                </a:solidFill>
                <a:latin typeface="Aptos"/>
              </a:rPr>
              <a:t>Student–Teacher Portal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514600"/>
            <a:ext cx="8046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AB8CC"/>
                </a:solidFill>
                <a:latin typeface="Aptos"/>
              </a:rPr>
              <a:t>Three-tier application on ECS Fargate with GitHub Actions CI/CD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23960" y="1143000"/>
            <a:ext cx="2514600" cy="4343400"/>
          </a:xfrm>
          <a:prstGeom prst="roundRect">
            <a:avLst/>
          </a:prstGeom>
          <a:solidFill>
            <a:srgbClr val="1C2C4E"/>
          </a:solidFill>
          <a:ln w="12700">
            <a:solidFill>
              <a:srgbClr val="304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89720" y="1417320"/>
            <a:ext cx="1783080" cy="61264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08592" y="1563624"/>
            <a:ext cx="530352" cy="530352"/>
          </a:xfrm>
          <a:prstGeom prst="ellipse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08592" y="1600200"/>
            <a:ext cx="53035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ALB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21240" y="1536192"/>
            <a:ext cx="941831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4203E"/>
                </a:solidFill>
                <a:latin typeface="Aptos"/>
              </a:rPr>
              <a:t>ALB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89720" y="2176272"/>
            <a:ext cx="1783080" cy="61264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308592" y="2322576"/>
            <a:ext cx="530352" cy="530352"/>
          </a:xfrm>
          <a:prstGeom prst="ellipse">
            <a:avLst/>
          </a:prstGeom>
          <a:solidFill>
            <a:srgbClr val="4D90FF"/>
          </a:solidFill>
          <a:ln>
            <a:solidFill>
              <a:srgbClr val="4D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08592" y="2359152"/>
            <a:ext cx="53035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ECS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21240" y="2295144"/>
            <a:ext cx="941831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4203E"/>
                </a:solidFill>
                <a:latin typeface="Aptos"/>
              </a:rPr>
              <a:t>ECS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89720" y="2935224"/>
            <a:ext cx="1783080" cy="61264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08592" y="3081528"/>
            <a:ext cx="530352" cy="530352"/>
          </a:xfrm>
          <a:prstGeom prst="ellipse">
            <a:avLst/>
          </a:prstGeom>
          <a:solidFill>
            <a:srgbClr val="00C4B4"/>
          </a:solidFill>
          <a:ln>
            <a:solidFill>
              <a:srgbClr val="00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08592" y="3118104"/>
            <a:ext cx="53035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21240" y="3054096"/>
            <a:ext cx="941831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4203E"/>
                </a:solidFill>
                <a:latin typeface="Aptos"/>
              </a:rPr>
              <a:t>RDS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3694176"/>
            <a:ext cx="1783080" cy="61264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08592" y="3840480"/>
            <a:ext cx="530352" cy="530352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08592" y="3877056"/>
            <a:ext cx="53035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ECR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21240" y="3813048"/>
            <a:ext cx="941831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4203E"/>
                </a:solidFill>
                <a:latin typeface="Aptos"/>
              </a:rPr>
              <a:t>ECR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89720" y="4453128"/>
            <a:ext cx="1783080" cy="61264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308592" y="4599432"/>
            <a:ext cx="530352" cy="530352"/>
          </a:xfrm>
          <a:prstGeom prst="ellipse">
            <a:avLst/>
          </a:prstGeom>
          <a:solidFill>
            <a:srgbClr val="4AB37E"/>
          </a:solidFill>
          <a:ln>
            <a:solidFill>
              <a:srgbClr val="4AB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08592" y="4636008"/>
            <a:ext cx="53035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SSM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21240" y="4572000"/>
            <a:ext cx="941831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4203E"/>
                </a:solidFill>
                <a:latin typeface="Aptos"/>
              </a:rPr>
              <a:t>SSM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4160520"/>
            <a:ext cx="6766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7CA6D8"/>
                </a:solidFill>
                <a:latin typeface="Aptos"/>
              </a:rPr>
              <a:t>React  •  Node/Express  •  MySQL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4526280"/>
            <a:ext cx="8046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7CA6D8"/>
                </a:solidFill>
                <a:latin typeface="Aptos"/>
              </a:rPr>
              <a:t>ECS Fargate  •  Application Load Balancer  •  RDS  •  Parameter Store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5806440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AB8CC"/>
                </a:solidFill>
                <a:latin typeface="Aptos"/>
              </a:rPr>
              <a:t>Updated visual design with AWS-style service icons and architecture flows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4652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C697A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9900"/>
                </a:solidFill>
                <a:latin typeface="Aptos"/>
              </a:rPr>
              <a:t>PART 1 •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03E"/>
                </a:solidFill>
                <a:latin typeface="Aptos Display"/>
              </a:rPr>
              <a:t>End-to-end request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07008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C697A"/>
                </a:solidFill>
                <a:latin typeface="Aptos"/>
              </a:rPr>
              <a:t>Only the load balancer is intended to be public; app tasks sit in private subnets.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91640"/>
            <a:ext cx="11201400" cy="4069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49808" y="1901952"/>
            <a:ext cx="1234440" cy="310896"/>
          </a:xfrm>
          <a:prstGeom prst="roundRect">
            <a:avLst/>
          </a:prstGeom>
          <a:solidFill>
            <a:srgbClr val="FF9900"/>
          </a:solidFill>
          <a:ln w="127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911095"/>
            <a:ext cx="1234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8FAFC"/>
                </a:solidFill>
                <a:latin typeface="Aptos"/>
              </a:rPr>
              <a:t>PUBLIC EDGE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395728"/>
            <a:ext cx="141732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1" y="2542032"/>
            <a:ext cx="530352" cy="530352"/>
          </a:xfrm>
          <a:prstGeom prst="ellipse">
            <a:avLst/>
          </a:prstGeom>
          <a:solidFill>
            <a:srgbClr val="4D90FF"/>
          </a:solidFill>
          <a:ln>
            <a:solidFill>
              <a:srgbClr val="4D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1" y="2578608"/>
            <a:ext cx="53035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WEB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514600"/>
            <a:ext cx="57607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14203E"/>
                </a:solidFill>
                <a:latin typeface="Aptos"/>
              </a:rPr>
              <a:t>Internet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907792"/>
            <a:ext cx="57607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C697A"/>
                </a:solidFill>
                <a:latin typeface="Aptos"/>
              </a:rPr>
              <a:t>Users / browser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80360" y="2395728"/>
            <a:ext cx="150876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99232" y="2542032"/>
            <a:ext cx="530352" cy="530352"/>
          </a:xfrm>
          <a:prstGeom prst="ellipse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99232" y="2578608"/>
            <a:ext cx="53035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ALB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2514600"/>
            <a:ext cx="667511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4203E"/>
                </a:solidFill>
                <a:latin typeface="Aptos"/>
              </a:rPr>
              <a:t>ALB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2907792"/>
            <a:ext cx="667511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C697A"/>
                </a:solidFill>
                <a:latin typeface="Aptos"/>
              </a:rPr>
              <a:t>HTTP :80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83480" y="2395728"/>
            <a:ext cx="160020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102352" y="2542032"/>
            <a:ext cx="530352" cy="530352"/>
          </a:xfrm>
          <a:prstGeom prst="ellipse">
            <a:avLst/>
          </a:prstGeom>
          <a:solidFill>
            <a:srgbClr val="00C4B4"/>
          </a:solidFill>
          <a:ln>
            <a:solidFill>
              <a:srgbClr val="00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02352" y="2578608"/>
            <a:ext cx="53035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FE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0" y="2514600"/>
            <a:ext cx="7589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14203E"/>
                </a:solidFill>
                <a:latin typeface="Aptos"/>
              </a:rPr>
              <a:t>Frontend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0" y="2907792"/>
            <a:ext cx="75895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C697A"/>
                </a:solidFill>
                <a:latin typeface="Aptos"/>
              </a:rPr>
              <a:t>nginx :80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23760" y="2395728"/>
            <a:ext cx="160020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42632" y="2542032"/>
            <a:ext cx="530352" cy="530352"/>
          </a:xfrm>
          <a:prstGeom prst="ellipse">
            <a:avLst/>
          </a:prstGeom>
          <a:solidFill>
            <a:srgbClr val="4D90FF"/>
          </a:solidFill>
          <a:ln>
            <a:solidFill>
              <a:srgbClr val="4D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42632" y="2578608"/>
            <a:ext cx="53035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API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80" y="2514600"/>
            <a:ext cx="7589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14203E"/>
                </a:solidFill>
                <a:latin typeface="Aptos"/>
              </a:rPr>
              <a:t>Backend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0" y="2907792"/>
            <a:ext cx="75895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C697A"/>
                </a:solidFill>
                <a:latin typeface="Aptos"/>
              </a:rPr>
              <a:t>Node :3500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64040" y="2395728"/>
            <a:ext cx="169164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582912" y="2542032"/>
            <a:ext cx="530352" cy="530352"/>
          </a:xfrm>
          <a:prstGeom prst="ellipse">
            <a:avLst/>
          </a:prstGeom>
          <a:solidFill>
            <a:srgbClr val="4AB37E"/>
          </a:solidFill>
          <a:ln>
            <a:solidFill>
              <a:srgbClr val="4AB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82912" y="2578608"/>
            <a:ext cx="53035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RDS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95560" y="2514600"/>
            <a:ext cx="85039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14203E"/>
                </a:solidFill>
                <a:latin typeface="Aptos"/>
              </a:rPr>
              <a:t>RDS MySQL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95560" y="2907792"/>
            <a:ext cx="85039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C697A"/>
                </a:solidFill>
                <a:latin typeface="Aptos"/>
              </a:rPr>
              <a:t>Private data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331720" y="2907792"/>
            <a:ext cx="502920" cy="0"/>
          </a:xfrm>
          <a:prstGeom prst="line">
            <a:avLst/>
          </a:prstGeom>
          <a:ln w="22860">
            <a:solidFill>
              <a:srgbClr val="5C69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389120" y="2907792"/>
            <a:ext cx="548640" cy="0"/>
          </a:xfrm>
          <a:prstGeom prst="line">
            <a:avLst/>
          </a:prstGeom>
          <a:ln w="22860">
            <a:solidFill>
              <a:srgbClr val="5C69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629400" y="2907792"/>
            <a:ext cx="548640" cy="0"/>
          </a:xfrm>
          <a:prstGeom prst="line">
            <a:avLst/>
          </a:prstGeom>
          <a:ln w="22860">
            <a:solidFill>
              <a:srgbClr val="5C69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823960" y="2907792"/>
            <a:ext cx="576072" cy="0"/>
          </a:xfrm>
          <a:prstGeom prst="line">
            <a:avLst/>
          </a:prstGeom>
          <a:ln w="22860">
            <a:solidFill>
              <a:srgbClr val="5C69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4800600" y="4160520"/>
            <a:ext cx="155448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919472" y="4306824"/>
            <a:ext cx="530352" cy="530352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919472" y="4343400"/>
            <a:ext cx="53035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ECR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32120" y="4279392"/>
            <a:ext cx="713231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4203E"/>
                </a:solidFill>
                <a:latin typeface="Aptos"/>
              </a:rPr>
              <a:t>ECR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32120" y="4672583"/>
            <a:ext cx="713231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C697A"/>
                </a:solidFill>
                <a:latin typeface="Aptos"/>
              </a:rPr>
              <a:t>Docker images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086600" y="4160520"/>
            <a:ext cx="173736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205472" y="4306824"/>
            <a:ext cx="530352" cy="530352"/>
          </a:xfrm>
          <a:prstGeom prst="ellipse">
            <a:avLst/>
          </a:prstGeom>
          <a:solidFill>
            <a:srgbClr val="4AB37E"/>
          </a:solidFill>
          <a:ln>
            <a:solidFill>
              <a:srgbClr val="4AB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05472" y="4343400"/>
            <a:ext cx="53035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SSM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18120" y="4279392"/>
            <a:ext cx="896111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1">
                <a:solidFill>
                  <a:srgbClr val="14203E"/>
                </a:solidFill>
                <a:latin typeface="Aptos"/>
              </a:rPr>
              <a:t>Parameter Store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18120" y="4672583"/>
            <a:ext cx="896111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C697A"/>
                </a:solidFill>
                <a:latin typeface="Aptos"/>
              </a:rPr>
              <a:t>DB credentials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509760" y="4160520"/>
            <a:ext cx="16002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628632" y="4306824"/>
            <a:ext cx="530352" cy="530352"/>
          </a:xfrm>
          <a:prstGeom prst="ellipse">
            <a:avLst/>
          </a:prstGeom>
          <a:solidFill>
            <a:srgbClr val="1C2C4E"/>
          </a:solidFill>
          <a:ln>
            <a:solidFill>
              <a:srgbClr val="1C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628632" y="4343400"/>
            <a:ext cx="53035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CI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241280" y="4279392"/>
            <a:ext cx="7589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4203E"/>
                </a:solidFill>
                <a:latin typeface="Aptos"/>
              </a:rPr>
              <a:t>GitHub Actions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241280" y="4672583"/>
            <a:ext cx="75895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C697A"/>
                </a:solidFill>
                <a:latin typeface="Aptos"/>
              </a:rPr>
              <a:t>Build + push</a:t>
            </a:r>
          </a:p>
        </p:txBody>
      </p:sp>
      <p:cxnSp>
        <p:nvCxnSpPr>
          <p:cNvPr id="52" name="Connector 51"/>
          <p:cNvCxnSpPr/>
          <p:nvPr/>
        </p:nvCxnSpPr>
        <p:spPr>
          <a:xfrm flipV="1">
            <a:off x="5577840" y="3493008"/>
            <a:ext cx="0" cy="621792"/>
          </a:xfrm>
          <a:prstGeom prst="line">
            <a:avLst/>
          </a:prstGeom>
          <a:ln w="19050">
            <a:solidFill>
              <a:srgbClr val="FFB74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7955279" y="3493008"/>
            <a:ext cx="0" cy="621792"/>
          </a:xfrm>
          <a:prstGeom prst="line">
            <a:avLst/>
          </a:prstGeom>
          <a:ln w="19050">
            <a:solidFill>
              <a:srgbClr val="4AB37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10287000" y="3493008"/>
            <a:ext cx="0" cy="621792"/>
          </a:xfrm>
          <a:prstGeom prst="line">
            <a:avLst/>
          </a:prstGeom>
          <a:ln w="19050">
            <a:solidFill>
              <a:srgbClr val="1C2C4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8778240" y="1993392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C697A"/>
                </a:solidFill>
                <a:latin typeface="Aptos"/>
              </a:rPr>
              <a:t>Private subnet boundary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384280" y="644652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C697A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9900"/>
                </a:solidFill>
                <a:latin typeface="Aptos"/>
              </a:rPr>
              <a:t>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03E"/>
                </a:solidFill>
                <a:latin typeface="Aptos Display"/>
              </a:rPr>
              <a:t>Networking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07008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C697A"/>
                </a:solidFill>
                <a:latin typeface="Aptos"/>
              </a:rPr>
              <a:t>VPC 10.0.0.0/16 • 2 public subnets • 2 private subnets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91640"/>
            <a:ext cx="11201400" cy="4343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49808" y="1901952"/>
            <a:ext cx="1874519" cy="310896"/>
          </a:xfrm>
          <a:prstGeom prst="roundRect">
            <a:avLst/>
          </a:prstGeom>
          <a:solidFill>
            <a:srgbClr val="1C2C4E"/>
          </a:solidFill>
          <a:ln w="12700">
            <a:solidFill>
              <a:srgbClr val="1C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911095"/>
            <a:ext cx="1874519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8FAFC"/>
                </a:solidFill>
                <a:latin typeface="Aptos"/>
              </a:rPr>
              <a:t>VPC  •  10.0.0.0/16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423160"/>
            <a:ext cx="5074920" cy="306324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BF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55080" y="2423160"/>
            <a:ext cx="4800600" cy="3063240"/>
          </a:xfrm>
          <a:prstGeom prst="roundRect">
            <a:avLst/>
          </a:prstGeom>
          <a:solidFill>
            <a:srgbClr val="F8FCF9"/>
          </a:solidFill>
          <a:ln w="12700">
            <a:solidFill>
              <a:srgbClr val="BBDB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65176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D90FF"/>
                </a:solidFill>
                <a:latin typeface="Aptos"/>
              </a:rPr>
              <a:t>PUBLIC SUBNETS ×2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65176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AB37E"/>
                </a:solidFill>
                <a:latin typeface="Aptos"/>
              </a:rPr>
              <a:t>PRIVATE SUBNETS ×2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1560" y="3154680"/>
            <a:ext cx="196596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70431" y="3300984"/>
            <a:ext cx="530352" cy="530352"/>
          </a:xfrm>
          <a:prstGeom prst="ellipse">
            <a:avLst/>
          </a:prstGeom>
          <a:solidFill>
            <a:srgbClr val="4D90FF"/>
          </a:solidFill>
          <a:ln>
            <a:solidFill>
              <a:srgbClr val="4D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1" y="3337560"/>
            <a:ext cx="53035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IGW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3273552"/>
            <a:ext cx="112471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1">
                <a:solidFill>
                  <a:srgbClr val="14203E"/>
                </a:solidFill>
                <a:latin typeface="Aptos"/>
              </a:rPr>
              <a:t>Internet Gateway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3666744"/>
            <a:ext cx="112471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C697A"/>
                </a:solidFill>
                <a:latin typeface="Aptos"/>
              </a:rPr>
              <a:t>Internet route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29000" y="3154680"/>
            <a:ext cx="196596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47872" y="3300984"/>
            <a:ext cx="530352" cy="530352"/>
          </a:xfrm>
          <a:prstGeom prst="ellipse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47872" y="3337560"/>
            <a:ext cx="53035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ALB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3273552"/>
            <a:ext cx="112471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14203E"/>
                </a:solidFill>
                <a:latin typeface="Aptos"/>
              </a:rPr>
              <a:t>Load Balancer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0520" y="3666744"/>
            <a:ext cx="112471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C697A"/>
                </a:solidFill>
                <a:latin typeface="Aptos"/>
              </a:rPr>
              <a:t>Public entry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29400" y="3154680"/>
            <a:ext cx="196596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748272" y="3300984"/>
            <a:ext cx="530352" cy="530352"/>
          </a:xfrm>
          <a:prstGeom prst="ellipse">
            <a:avLst/>
          </a:prstGeom>
          <a:solidFill>
            <a:srgbClr val="00C4B4"/>
          </a:solidFill>
          <a:ln>
            <a:solidFill>
              <a:srgbClr val="00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48272" y="3337560"/>
            <a:ext cx="53035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ECS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20" y="3273552"/>
            <a:ext cx="112471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14203E"/>
                </a:solidFill>
                <a:latin typeface="Aptos"/>
              </a:rPr>
              <a:t>ECS tasks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0920" y="3666744"/>
            <a:ext cx="112471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C697A"/>
                </a:solidFill>
                <a:latin typeface="Aptos"/>
              </a:rPr>
              <a:t>Frontend + backend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15400" y="3154680"/>
            <a:ext cx="178308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034272" y="3300984"/>
            <a:ext cx="530352" cy="530352"/>
          </a:xfrm>
          <a:prstGeom prst="ellipse">
            <a:avLst/>
          </a:prstGeom>
          <a:solidFill>
            <a:srgbClr val="4AB37E"/>
          </a:solidFill>
          <a:ln>
            <a:solidFill>
              <a:srgbClr val="4AB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34272" y="3337560"/>
            <a:ext cx="53035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RDS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46920" y="3273552"/>
            <a:ext cx="941831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4203E"/>
                </a:solidFill>
                <a:latin typeface="Aptos"/>
              </a:rPr>
              <a:t>RDS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46920" y="3666744"/>
            <a:ext cx="941831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C697A"/>
                </a:solidFill>
                <a:latin typeface="Aptos"/>
              </a:rPr>
              <a:t>Database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29000" y="4434840"/>
            <a:ext cx="196596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547872" y="4581144"/>
            <a:ext cx="530352" cy="530352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47872" y="4617720"/>
            <a:ext cx="53035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NAT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60520" y="4553712"/>
            <a:ext cx="112471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4203E"/>
                </a:solidFill>
                <a:latin typeface="Aptos"/>
              </a:rPr>
              <a:t>NAT Gateway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60520" y="4946904"/>
            <a:ext cx="112471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C697A"/>
                </a:solidFill>
                <a:latin typeface="Aptos"/>
              </a:rPr>
              <a:t>Outbound only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2999232" y="3639312"/>
            <a:ext cx="402336" cy="0"/>
          </a:xfrm>
          <a:prstGeom prst="line">
            <a:avLst/>
          </a:prstGeom>
          <a:ln w="22860">
            <a:solidFill>
              <a:srgbClr val="4D9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5413248" y="3639312"/>
            <a:ext cx="1170432" cy="0"/>
          </a:xfrm>
          <a:prstGeom prst="line">
            <a:avLst/>
          </a:prstGeom>
          <a:ln w="22860">
            <a:solidFill>
              <a:srgbClr val="FF9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065008" y="3657600"/>
            <a:ext cx="786384" cy="0"/>
          </a:xfrm>
          <a:prstGeom prst="line">
            <a:avLst/>
          </a:prstGeom>
          <a:ln w="22860">
            <a:solidFill>
              <a:srgbClr val="4AB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5440680" y="4434840"/>
            <a:ext cx="1874520" cy="365760"/>
          </a:xfrm>
          <a:prstGeom prst="line">
            <a:avLst/>
          </a:prstGeom>
          <a:ln w="19050">
            <a:solidFill>
              <a:srgbClr val="FFB74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537960" y="4800600"/>
            <a:ext cx="4160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5C697A"/>
                </a:solidFill>
                <a:latin typeface="Aptos"/>
              </a:rPr>
              <a:t>Private resources can reach ECR / SSM / internet outbound through NAT.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84280" y="644652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C697A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9900"/>
                </a:solidFill>
                <a:latin typeface="Aptos"/>
              </a:rPr>
              <a:t>DATA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03E"/>
                </a:solidFill>
                <a:latin typeface="Aptos Display"/>
              </a:rPr>
              <a:t>RDS + Parameter Store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07008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C697A"/>
                </a:solidFill>
                <a:latin typeface="Aptos"/>
              </a:rPr>
              <a:t>Database access is isolated from the public edge.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74519"/>
            <a:ext cx="2057400" cy="1234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50392" y="2020824"/>
            <a:ext cx="530352" cy="530352"/>
          </a:xfrm>
          <a:prstGeom prst="ellipse">
            <a:avLst/>
          </a:prstGeom>
          <a:solidFill>
            <a:srgbClr val="4AB37E"/>
          </a:solidFill>
          <a:ln>
            <a:solidFill>
              <a:srgbClr val="4AB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2057400"/>
            <a:ext cx="53035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993391"/>
            <a:ext cx="12161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14203E"/>
                </a:solidFill>
                <a:latin typeface="Aptos"/>
              </a:rPr>
              <a:t>Amazon 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386584"/>
            <a:ext cx="121615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C697A"/>
                </a:solidFill>
                <a:latin typeface="Aptos"/>
              </a:rPr>
              <a:t>MySQL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1874519"/>
            <a:ext cx="2240280" cy="1234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776472" y="2020824"/>
            <a:ext cx="530352" cy="530352"/>
          </a:xfrm>
          <a:prstGeom prst="ellipse">
            <a:avLst/>
          </a:prstGeom>
          <a:solidFill>
            <a:srgbClr val="4AB37E"/>
          </a:solidFill>
          <a:ln>
            <a:solidFill>
              <a:srgbClr val="4AB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76472" y="2057400"/>
            <a:ext cx="53035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SSM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993391"/>
            <a:ext cx="139903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1">
                <a:solidFill>
                  <a:srgbClr val="14203E"/>
                </a:solidFill>
                <a:latin typeface="Aptos"/>
              </a:rPr>
              <a:t>Parameter Store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386584"/>
            <a:ext cx="139903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C697A"/>
                </a:solidFill>
                <a:latin typeface="Aptos"/>
              </a:rPr>
              <a:t>SecureString password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12280" y="1874519"/>
            <a:ext cx="2057400" cy="1234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931152" y="2020824"/>
            <a:ext cx="530352" cy="530352"/>
          </a:xfrm>
          <a:prstGeom prst="ellipse">
            <a:avLst/>
          </a:prstGeom>
          <a:solidFill>
            <a:srgbClr val="4D90FF"/>
          </a:solidFill>
          <a:ln>
            <a:solidFill>
              <a:srgbClr val="4D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31152" y="2057400"/>
            <a:ext cx="53035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ECS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1993391"/>
            <a:ext cx="12161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4203E"/>
                </a:solidFill>
                <a:latin typeface="Aptos"/>
              </a:rPr>
              <a:t>Backend task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2386584"/>
            <a:ext cx="121615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C697A"/>
                </a:solidFill>
                <a:latin typeface="Aptos"/>
              </a:rPr>
              <a:t>getDBConfig()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46920" y="1874519"/>
            <a:ext cx="1828800" cy="1234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765792" y="2020824"/>
            <a:ext cx="530352" cy="530352"/>
          </a:xfrm>
          <a:prstGeom prst="ellipse">
            <a:avLst/>
          </a:prstGeom>
          <a:solidFill>
            <a:srgbClr val="1C2C4E"/>
          </a:solidFill>
          <a:ln>
            <a:solidFill>
              <a:srgbClr val="1C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65792" y="2057400"/>
            <a:ext cx="53035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SG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78440" y="1993391"/>
            <a:ext cx="987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4203E"/>
                </a:solidFill>
                <a:latin typeface="Aptos"/>
              </a:rPr>
              <a:t>Security Group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78440" y="2386584"/>
            <a:ext cx="98755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C697A"/>
                </a:solidFill>
                <a:latin typeface="Aptos"/>
              </a:rPr>
              <a:t>Inbound 3306 only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925312" y="2487168"/>
            <a:ext cx="795528" cy="0"/>
          </a:xfrm>
          <a:prstGeom prst="line">
            <a:avLst/>
          </a:prstGeom>
          <a:ln w="22860">
            <a:solidFill>
              <a:srgbClr val="4AB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897112" y="2487168"/>
            <a:ext cx="640080" cy="0"/>
          </a:xfrm>
          <a:prstGeom prst="line">
            <a:avLst/>
          </a:prstGeom>
          <a:ln w="22860">
            <a:solidFill>
              <a:srgbClr val="4D9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1520" y="3657600"/>
            <a:ext cx="5212080" cy="1828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3858768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203E"/>
                </a:solidFill>
                <a:latin typeface="Aptos"/>
              </a:rPr>
              <a:t>Parameters stored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224528"/>
            <a:ext cx="43891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22D3E"/>
                </a:solidFill>
                <a:latin typeface="Aptos"/>
              </a:rPr>
              <a:t>/myapp/db/host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4498848"/>
            <a:ext cx="43891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22D3E"/>
                </a:solidFill>
                <a:latin typeface="Aptos"/>
              </a:rPr>
              <a:t>/myapp/db/user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4773168"/>
            <a:ext cx="43891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22D3E"/>
                </a:solidFill>
                <a:latin typeface="Aptos"/>
              </a:rPr>
              <a:t>/myapp/db/password  (SecureString)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5047488"/>
            <a:ext cx="43891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22D3E"/>
                </a:solidFill>
                <a:latin typeface="Aptos"/>
              </a:rPr>
              <a:t>/myapp/db/name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3657600"/>
            <a:ext cx="5166360" cy="1828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3858768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203E"/>
                </a:solidFill>
                <a:latin typeface="Aptos"/>
              </a:rPr>
              <a:t>Runtime behavior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4224528"/>
            <a:ext cx="4389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22D3E"/>
                </a:solidFill>
                <a:latin typeface="Aptos"/>
              </a:rPr>
              <a:t>1  Task starts
2  GetParametersCommand reads config
3  App connects to MySQL over private network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84280" y="644652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C697A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9900"/>
                </a:solidFill>
                <a:latin typeface="Aptos"/>
              </a:rPr>
              <a:t>PART 2 •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03E"/>
                </a:solidFill>
                <a:latin typeface="Aptos Display"/>
              </a:rPr>
              <a:t>GitHub Actions CI/CD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07008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C697A"/>
                </a:solidFill>
                <a:latin typeface="Aptos"/>
              </a:rPr>
              <a:t>Two manual workflows: backend image and frontend image.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246888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59" y="2148840"/>
            <a:ext cx="457200" cy="457200"/>
          </a:xfrm>
          <a:prstGeom prst="ellipse">
            <a:avLst/>
          </a:prstGeom>
          <a:solidFill>
            <a:srgbClr val="4D90FF"/>
          </a:solidFill>
          <a:ln>
            <a:solidFill>
              <a:srgbClr val="4D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240280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8FAFC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9888" y="2084831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4203E"/>
                </a:solidFill>
                <a:latin typeface="Aptos"/>
              </a:rPr>
              <a:t>Checkout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9888" y="2441448"/>
            <a:ext cx="1508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C697A"/>
                </a:solidFill>
                <a:latin typeface="Aptos"/>
              </a:rPr>
              <a:t>actions/checkout@v4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27248" y="2633472"/>
            <a:ext cx="301752" cy="0"/>
          </a:xfrm>
          <a:prstGeom prst="line">
            <a:avLst/>
          </a:prstGeom>
          <a:ln w="22860">
            <a:solidFill>
              <a:srgbClr val="5C69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474720" y="1920240"/>
            <a:ext cx="246888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57600" y="2148840"/>
            <a:ext cx="457200" cy="457200"/>
          </a:xfrm>
          <a:prstGeom prst="ellipse">
            <a:avLst/>
          </a:prstGeom>
          <a:solidFill>
            <a:srgbClr val="1C2C4E"/>
          </a:solidFill>
          <a:ln>
            <a:solidFill>
              <a:srgbClr val="1C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2240280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8FAFC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24528" y="2084831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4203E"/>
                </a:solidFill>
                <a:latin typeface="Aptos"/>
              </a:rPr>
              <a:t>AWS auth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24528" y="2441448"/>
            <a:ext cx="1508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C697A"/>
                </a:solidFill>
                <a:latin typeface="Aptos"/>
              </a:rPr>
              <a:t>configure-aws-credentials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61888" y="2633472"/>
            <a:ext cx="301752" cy="0"/>
          </a:xfrm>
          <a:prstGeom prst="line">
            <a:avLst/>
          </a:prstGeom>
          <a:ln w="22860">
            <a:solidFill>
              <a:srgbClr val="5C69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309360" y="1920240"/>
            <a:ext cx="246888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92240" y="2148840"/>
            <a:ext cx="457200" cy="457200"/>
          </a:xfrm>
          <a:prstGeom prst="ellipse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240280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8FAFC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9168" y="2084831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4203E"/>
                </a:solidFill>
                <a:latin typeface="Aptos"/>
              </a:rPr>
              <a:t>ECR login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59168" y="2441448"/>
            <a:ext cx="1508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C697A"/>
                </a:solidFill>
                <a:latin typeface="Aptos"/>
              </a:rPr>
              <a:t>amazon-ecr-login@v2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796528" y="2633472"/>
            <a:ext cx="301752" cy="0"/>
          </a:xfrm>
          <a:prstGeom prst="line">
            <a:avLst/>
          </a:prstGeom>
          <a:ln w="22860">
            <a:solidFill>
              <a:srgbClr val="5C69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144000" y="1920240"/>
            <a:ext cx="246888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26880" y="2148840"/>
            <a:ext cx="457200" cy="457200"/>
          </a:xfrm>
          <a:prstGeom prst="ellipse">
            <a:avLst/>
          </a:prstGeom>
          <a:solidFill>
            <a:srgbClr val="00C4B4"/>
          </a:solidFill>
          <a:ln>
            <a:solidFill>
              <a:srgbClr val="00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0" y="2240280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8FAFC"/>
                </a:solidFill>
                <a:latin typeface="Apto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93808" y="2084831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4203E"/>
                </a:solidFill>
                <a:latin typeface="Aptos"/>
              </a:rPr>
              <a:t>Build + push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93808" y="2441448"/>
            <a:ext cx="1508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C697A"/>
                </a:solidFill>
                <a:latin typeface="Aptos"/>
              </a:rPr>
              <a:t>docker/build-push-action@v6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3794760"/>
            <a:ext cx="5349240" cy="1691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59" y="3941064"/>
            <a:ext cx="498347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203E"/>
                </a:solidFill>
                <a:latin typeface="Aptos"/>
              </a:rPr>
              <a:t>Backend Build &amp; Push</a:t>
            </a:r>
          </a:p>
        </p:txBody>
      </p:sp>
      <p:sp>
        <p:nvSpPr>
          <p:cNvPr id="30" name="Oval 29"/>
          <p:cNvSpPr/>
          <p:nvPr/>
        </p:nvSpPr>
        <p:spPr>
          <a:xfrm>
            <a:off x="822959" y="4434840"/>
            <a:ext cx="82296" cy="82296"/>
          </a:xfrm>
          <a:prstGeom prst="ellipse">
            <a:avLst/>
          </a:prstGeom>
          <a:solidFill>
            <a:srgbClr val="4D90FF"/>
          </a:solidFill>
          <a:ln>
            <a:solidFill>
              <a:srgbClr val="4D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7552" y="4361688"/>
            <a:ext cx="481888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22D3E"/>
                </a:solidFill>
                <a:latin typeface="Aptos"/>
              </a:rPr>
              <a:t>backend/Dockerfile → backend-image</a:t>
            </a:r>
          </a:p>
        </p:txBody>
      </p:sp>
      <p:sp>
        <p:nvSpPr>
          <p:cNvPr id="32" name="Oval 31"/>
          <p:cNvSpPr/>
          <p:nvPr/>
        </p:nvSpPr>
        <p:spPr>
          <a:xfrm>
            <a:off x="822959" y="4828032"/>
            <a:ext cx="82296" cy="82296"/>
          </a:xfrm>
          <a:prstGeom prst="ellipse">
            <a:avLst/>
          </a:prstGeom>
          <a:solidFill>
            <a:srgbClr val="4D90FF"/>
          </a:solidFill>
          <a:ln>
            <a:solidFill>
              <a:srgbClr val="4D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7552" y="4754880"/>
            <a:ext cx="481888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22D3E"/>
                </a:solidFill>
                <a:latin typeface="Aptos"/>
              </a:rPr>
              <a:t>Tag uses workflow run number</a:t>
            </a:r>
          </a:p>
        </p:txBody>
      </p:sp>
      <p:sp>
        <p:nvSpPr>
          <p:cNvPr id="34" name="Oval 33"/>
          <p:cNvSpPr/>
          <p:nvPr/>
        </p:nvSpPr>
        <p:spPr>
          <a:xfrm>
            <a:off x="822959" y="5221224"/>
            <a:ext cx="82296" cy="82296"/>
          </a:xfrm>
          <a:prstGeom prst="ellipse">
            <a:avLst/>
          </a:prstGeom>
          <a:solidFill>
            <a:srgbClr val="4D90FF"/>
          </a:solidFill>
          <a:ln>
            <a:solidFill>
              <a:srgbClr val="4D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7552" y="5148072"/>
            <a:ext cx="481888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22D3E"/>
                </a:solidFill>
                <a:latin typeface="Aptos"/>
              </a:rPr>
              <a:t>Pushes to Amazon ECR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3794760"/>
            <a:ext cx="5349240" cy="1691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5080" y="3941064"/>
            <a:ext cx="498347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203E"/>
                </a:solidFill>
                <a:latin typeface="Aptos"/>
              </a:rPr>
              <a:t>Frontend Build &amp; Push</a:t>
            </a:r>
          </a:p>
        </p:txBody>
      </p:sp>
      <p:sp>
        <p:nvSpPr>
          <p:cNvPr id="38" name="Oval 37"/>
          <p:cNvSpPr/>
          <p:nvPr/>
        </p:nvSpPr>
        <p:spPr>
          <a:xfrm>
            <a:off x="6355080" y="4434840"/>
            <a:ext cx="82296" cy="82296"/>
          </a:xfrm>
          <a:prstGeom prst="ellipse">
            <a:avLst/>
          </a:prstGeom>
          <a:solidFill>
            <a:srgbClr val="00C4B4"/>
          </a:solidFill>
          <a:ln>
            <a:solidFill>
              <a:srgbClr val="00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19672" y="4361688"/>
            <a:ext cx="481888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22D3E"/>
                </a:solidFill>
                <a:latin typeface="Aptos"/>
              </a:rPr>
              <a:t>frontend/Dockerfile → frontend-image</a:t>
            </a:r>
          </a:p>
        </p:txBody>
      </p:sp>
      <p:sp>
        <p:nvSpPr>
          <p:cNvPr id="40" name="Oval 39"/>
          <p:cNvSpPr/>
          <p:nvPr/>
        </p:nvSpPr>
        <p:spPr>
          <a:xfrm>
            <a:off x="6355080" y="4828032"/>
            <a:ext cx="82296" cy="82296"/>
          </a:xfrm>
          <a:prstGeom prst="ellipse">
            <a:avLst/>
          </a:prstGeom>
          <a:solidFill>
            <a:srgbClr val="00C4B4"/>
          </a:solidFill>
          <a:ln>
            <a:solidFill>
              <a:srgbClr val="00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19672" y="4754880"/>
            <a:ext cx="481888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22D3E"/>
                </a:solidFill>
                <a:latin typeface="Aptos"/>
              </a:rPr>
              <a:t>REACT_APP_API_BASE_URL build arg</a:t>
            </a:r>
          </a:p>
        </p:txBody>
      </p:sp>
      <p:sp>
        <p:nvSpPr>
          <p:cNvPr id="42" name="Oval 41"/>
          <p:cNvSpPr/>
          <p:nvPr/>
        </p:nvSpPr>
        <p:spPr>
          <a:xfrm>
            <a:off x="6355080" y="5221224"/>
            <a:ext cx="82296" cy="82296"/>
          </a:xfrm>
          <a:prstGeom prst="ellipse">
            <a:avLst/>
          </a:prstGeom>
          <a:solidFill>
            <a:srgbClr val="00C4B4"/>
          </a:solidFill>
          <a:ln>
            <a:solidFill>
              <a:srgbClr val="00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19672" y="5148072"/>
            <a:ext cx="481888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22D3E"/>
                </a:solidFill>
                <a:latin typeface="Aptos"/>
              </a:rPr>
              <a:t>Trigger: workflow_dispatch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5806440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5C697A"/>
                </a:solidFill>
                <a:latin typeface="Aptos"/>
              </a:rPr>
              <a:t>Secrets: AWS_ACCESS_KEY_ID • AWS_SECRET_ACCESS_KEY • API_BASE_URL • development environment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384280" y="644652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C697A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9900"/>
                </a:solidFill>
                <a:latin typeface="Aptos"/>
              </a:rPr>
              <a:t>RUNTIME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03E"/>
                </a:solidFill>
                <a:latin typeface="Aptos Display"/>
              </a:rPr>
              <a:t>ECS Fargate compute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07008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C697A"/>
                </a:solidFill>
                <a:latin typeface="Aptos"/>
              </a:rPr>
              <a:t>Backend first, then frontend. Each service uses its own task definition and target group.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11064240" cy="4251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993392"/>
            <a:ext cx="1417320" cy="310896"/>
          </a:xfrm>
          <a:prstGeom prst="roundRect">
            <a:avLst/>
          </a:prstGeom>
          <a:solidFill>
            <a:srgbClr val="4D90FF"/>
          </a:solidFill>
          <a:ln w="12700">
            <a:solidFill>
              <a:srgbClr val="4D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02536"/>
            <a:ext cx="14173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8FAFC"/>
                </a:solidFill>
                <a:latin typeface="Aptos"/>
              </a:rPr>
              <a:t>ECS CLUSTER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514600"/>
            <a:ext cx="2057400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1" y="2660904"/>
            <a:ext cx="530352" cy="530352"/>
          </a:xfrm>
          <a:prstGeom prst="ellipse">
            <a:avLst/>
          </a:prstGeom>
          <a:solidFill>
            <a:srgbClr val="4D90FF"/>
          </a:solidFill>
          <a:ln>
            <a:solidFill>
              <a:srgbClr val="4D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1" y="2697480"/>
            <a:ext cx="53035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633472"/>
            <a:ext cx="12161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4203E"/>
                </a:solidFill>
                <a:latin typeface="Aptos"/>
              </a:rPr>
              <a:t>Backend Service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026664"/>
            <a:ext cx="121615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C697A"/>
                </a:solidFill>
                <a:latin typeface="Aptos"/>
              </a:rPr>
              <a:t>1 desired task • :3500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03320" y="2514600"/>
            <a:ext cx="2057400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822191" y="2660904"/>
            <a:ext cx="530352" cy="530352"/>
          </a:xfrm>
          <a:prstGeom prst="ellipse">
            <a:avLst/>
          </a:prstGeom>
          <a:solidFill>
            <a:srgbClr val="00C4B4"/>
          </a:solidFill>
          <a:ln>
            <a:solidFill>
              <a:srgbClr val="00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22191" y="2697480"/>
            <a:ext cx="53035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FE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633472"/>
            <a:ext cx="12161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4203E"/>
                </a:solidFill>
                <a:latin typeface="Aptos"/>
              </a:rPr>
              <a:t>Frontend Service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3026664"/>
            <a:ext cx="121615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C697A"/>
                </a:solidFill>
                <a:latin typeface="Aptos"/>
              </a:rPr>
              <a:t>1 desired task • :80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2514600"/>
            <a:ext cx="2148840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611112" y="2660904"/>
            <a:ext cx="530352" cy="530352"/>
          </a:xfrm>
          <a:prstGeom prst="ellipse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11112" y="2697480"/>
            <a:ext cx="53035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ALB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59" y="2633472"/>
            <a:ext cx="130759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4203E"/>
                </a:solidFill>
                <a:latin typeface="Aptos"/>
              </a:rPr>
              <a:t>ALB + Target Group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59" y="3026664"/>
            <a:ext cx="130759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C697A"/>
                </a:solidFill>
                <a:latin typeface="Aptos"/>
              </a:rPr>
              <a:t>HTTP listener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72600" y="2514600"/>
            <a:ext cx="1645920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91472" y="2660904"/>
            <a:ext cx="530352" cy="530352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91472" y="2697480"/>
            <a:ext cx="53035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ECR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04120" y="2633472"/>
            <a:ext cx="80467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4203E"/>
                </a:solidFill>
                <a:latin typeface="Aptos"/>
              </a:rPr>
              <a:t>ECR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04120" y="3026664"/>
            <a:ext cx="80467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C697A"/>
                </a:solidFill>
                <a:latin typeface="Aptos"/>
              </a:rPr>
              <a:t>Image source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999232" y="3090672"/>
            <a:ext cx="640080" cy="0"/>
          </a:xfrm>
          <a:prstGeom prst="line">
            <a:avLst/>
          </a:prstGeom>
          <a:ln w="22860">
            <a:solidFill>
              <a:srgbClr val="4D9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788152" y="3090672"/>
            <a:ext cx="640080" cy="0"/>
          </a:xfrm>
          <a:prstGeom prst="line">
            <a:avLst/>
          </a:prstGeom>
          <a:ln w="22860">
            <a:solidFill>
              <a:srgbClr val="00C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686800" y="3090672"/>
            <a:ext cx="612648" cy="0"/>
          </a:xfrm>
          <a:prstGeom prst="line">
            <a:avLst/>
          </a:prstGeom>
          <a:ln w="22860">
            <a:solidFill>
              <a:srgbClr val="FF9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14400" y="4160520"/>
            <a:ext cx="507492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4306824"/>
            <a:ext cx="470915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203E"/>
                </a:solidFill>
                <a:latin typeface="Aptos"/>
              </a:rPr>
              <a:t>Two IAM roles — keep them separate</a:t>
            </a:r>
          </a:p>
        </p:txBody>
      </p:sp>
      <p:sp>
        <p:nvSpPr>
          <p:cNvPr id="33" name="Oval 32"/>
          <p:cNvSpPr/>
          <p:nvPr/>
        </p:nvSpPr>
        <p:spPr>
          <a:xfrm>
            <a:off x="1097280" y="4800600"/>
            <a:ext cx="82296" cy="82296"/>
          </a:xfrm>
          <a:prstGeom prst="ellipse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61872" y="4727448"/>
            <a:ext cx="454456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22D3E"/>
                </a:solidFill>
                <a:latin typeface="Aptos"/>
              </a:rPr>
              <a:t>Execution role: ECS agent pulls images + logs</a:t>
            </a:r>
          </a:p>
        </p:txBody>
      </p:sp>
      <p:sp>
        <p:nvSpPr>
          <p:cNvPr id="35" name="Oval 34"/>
          <p:cNvSpPr/>
          <p:nvPr/>
        </p:nvSpPr>
        <p:spPr>
          <a:xfrm>
            <a:off x="1097280" y="5193792"/>
            <a:ext cx="82296" cy="82296"/>
          </a:xfrm>
          <a:prstGeom prst="ellipse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61872" y="5120640"/>
            <a:ext cx="454456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22D3E"/>
                </a:solidFill>
                <a:latin typeface="Aptos"/>
              </a:rPr>
              <a:t>Task role: running app calls ssm:GetParameters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4160520"/>
            <a:ext cx="480060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4306824"/>
            <a:ext cx="4434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203E"/>
                </a:solidFill>
                <a:latin typeface="Aptos"/>
              </a:rPr>
              <a:t>Ports &amp; deployment</a:t>
            </a:r>
          </a:p>
        </p:txBody>
      </p:sp>
      <p:sp>
        <p:nvSpPr>
          <p:cNvPr id="39" name="Oval 38"/>
          <p:cNvSpPr/>
          <p:nvPr/>
        </p:nvSpPr>
        <p:spPr>
          <a:xfrm>
            <a:off x="6400800" y="4800600"/>
            <a:ext cx="82296" cy="82296"/>
          </a:xfrm>
          <a:prstGeom prst="ellipse">
            <a:avLst/>
          </a:prstGeom>
          <a:solidFill>
            <a:srgbClr val="00C4B4"/>
          </a:solidFill>
          <a:ln>
            <a:solidFill>
              <a:srgbClr val="00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65392" y="4727448"/>
            <a:ext cx="42702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22D3E"/>
                </a:solidFill>
                <a:latin typeface="Aptos"/>
              </a:rPr>
              <a:t>Backend container port 3500</a:t>
            </a:r>
          </a:p>
        </p:txBody>
      </p:sp>
      <p:sp>
        <p:nvSpPr>
          <p:cNvPr id="41" name="Oval 40"/>
          <p:cNvSpPr/>
          <p:nvPr/>
        </p:nvSpPr>
        <p:spPr>
          <a:xfrm>
            <a:off x="6400800" y="5193792"/>
            <a:ext cx="82296" cy="82296"/>
          </a:xfrm>
          <a:prstGeom prst="ellipse">
            <a:avLst/>
          </a:prstGeom>
          <a:solidFill>
            <a:srgbClr val="00C4B4"/>
          </a:solidFill>
          <a:ln>
            <a:solidFill>
              <a:srgbClr val="00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65392" y="5120640"/>
            <a:ext cx="42702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22D3E"/>
                </a:solidFill>
                <a:latin typeface="Aptos"/>
              </a:rPr>
              <a:t>Frontend container port 80</a:t>
            </a:r>
          </a:p>
        </p:txBody>
      </p:sp>
      <p:sp>
        <p:nvSpPr>
          <p:cNvPr id="43" name="Oval 42"/>
          <p:cNvSpPr/>
          <p:nvPr/>
        </p:nvSpPr>
        <p:spPr>
          <a:xfrm>
            <a:off x="6400800" y="5586984"/>
            <a:ext cx="82296" cy="82296"/>
          </a:xfrm>
          <a:prstGeom prst="ellipse">
            <a:avLst/>
          </a:prstGeom>
          <a:solidFill>
            <a:srgbClr val="00C4B4"/>
          </a:solidFill>
          <a:ln>
            <a:solidFill>
              <a:srgbClr val="00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65392" y="5513832"/>
            <a:ext cx="42702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22D3E"/>
                </a:solidFill>
                <a:latin typeface="Aptos"/>
              </a:rPr>
              <a:t>New task definition revision + deployment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384280" y="644652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C697A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9900"/>
                </a:solidFill>
                <a:latin typeface="Aptos"/>
              </a:rPr>
              <a:t>LESSONS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03E"/>
                </a:solidFill>
                <a:latin typeface="Aptos Display"/>
              </a:rPr>
              <a:t>Debugging 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07008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C697A"/>
                </a:solidFill>
                <a:latin typeface="Aptos"/>
              </a:rPr>
              <a:t>Observed symptoms, root causes, and fixes from the supplied project notes.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2834640" cy="502920"/>
          </a:xfrm>
          <a:prstGeom prst="roundRect">
            <a:avLst/>
          </a:prstGeom>
          <a:solidFill>
            <a:srgbClr val="1C2C4E"/>
          </a:solidFill>
          <a:ln w="12700">
            <a:solidFill>
              <a:srgbClr val="1C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84248"/>
            <a:ext cx="2560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8FAFC"/>
                </a:solidFill>
                <a:latin typeface="Aptos"/>
              </a:rPr>
              <a:t>SYMPTOM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0" y="1874519"/>
            <a:ext cx="3200400" cy="502920"/>
          </a:xfrm>
          <a:prstGeom prst="roundRect">
            <a:avLst/>
          </a:prstGeom>
          <a:solidFill>
            <a:srgbClr val="1C2C4E"/>
          </a:solidFill>
          <a:ln w="12700">
            <a:solidFill>
              <a:srgbClr val="1C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77640" y="1984248"/>
            <a:ext cx="2926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8FAFC"/>
                </a:solidFill>
                <a:latin typeface="Aptos"/>
              </a:rPr>
              <a:t>ROOT CAUSE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1874519"/>
            <a:ext cx="4069080" cy="502920"/>
          </a:xfrm>
          <a:prstGeom prst="roundRect">
            <a:avLst/>
          </a:prstGeom>
          <a:solidFill>
            <a:srgbClr val="1C2C4E"/>
          </a:solidFill>
          <a:ln w="12700">
            <a:solidFill>
              <a:srgbClr val="1C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1984248"/>
            <a:ext cx="3794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8FAFC"/>
                </a:solidFill>
                <a:latin typeface="Aptos"/>
              </a:rPr>
              <a:t>FIX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450592"/>
            <a:ext cx="283464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840480" y="2450592"/>
            <a:ext cx="320040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406640" y="2450592"/>
            <a:ext cx="406908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2569464"/>
            <a:ext cx="2542032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69" b="0">
                <a:solidFill>
                  <a:srgbClr val="222D3E"/>
                </a:solidFill>
                <a:latin typeface="Aptos"/>
              </a:rPr>
              <a:t>Could not load credentials from local Docker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86784" y="2569464"/>
            <a:ext cx="2907792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69" b="0">
                <a:solidFill>
                  <a:srgbClr val="222D3E"/>
                </a:solidFill>
                <a:latin typeface="Aptos"/>
              </a:rPr>
              <a:t>server.js calls AWS SSM at boot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52944" y="2569464"/>
            <a:ext cx="3767328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69" b="0">
                <a:solidFill>
                  <a:srgbClr val="222D3E"/>
                </a:solidFill>
                <a:latin typeface="Aptos"/>
              </a:rPr>
              <a:t>Local build reads DB config from docker-compose env vars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410712"/>
            <a:ext cx="283464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840480" y="3410712"/>
            <a:ext cx="320040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406640" y="3410712"/>
            <a:ext cx="406908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" y="3529584"/>
            <a:ext cx="2542032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69" b="0">
                <a:solidFill>
                  <a:srgbClr val="222D3E"/>
                </a:solidFill>
                <a:latin typeface="Aptos"/>
              </a:rPr>
              <a:t>AccessDeniedException on ssm:GetParameters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86784" y="3529584"/>
            <a:ext cx="2907792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69" b="0">
                <a:solidFill>
                  <a:srgbClr val="222D3E"/>
                </a:solidFill>
                <a:latin typeface="Aptos"/>
              </a:rPr>
              <a:t>SSM policy was on execution role, not Task role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52944" y="3529584"/>
            <a:ext cx="3767328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69" b="0">
                <a:solidFill>
                  <a:srgbClr val="222D3E"/>
                </a:solidFill>
                <a:latin typeface="Aptos"/>
              </a:rPr>
              <a:t>Set Task role on new task definition revision; force-deployed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370832"/>
            <a:ext cx="283464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840480" y="4370832"/>
            <a:ext cx="320040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06640" y="4370832"/>
            <a:ext cx="406908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" y="4489704"/>
            <a:ext cx="2542032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69" b="0">
                <a:solidFill>
                  <a:srgbClr val="222D3E"/>
                </a:solidFill>
                <a:latin typeface="Aptos"/>
              </a:rPr>
              <a:t>Backend stuck in register → drain → deregister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86784" y="4489704"/>
            <a:ext cx="2907792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69" b="0">
                <a:solidFill>
                  <a:srgbClr val="222D3E"/>
                </a:solidFill>
                <a:latin typeface="Aptos"/>
              </a:rPr>
              <a:t>Task crashed with exit code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52944" y="4489704"/>
            <a:ext cx="3767328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69" b="0">
                <a:solidFill>
                  <a:srgbClr val="222D3E"/>
                </a:solidFill>
                <a:latin typeface="Aptos"/>
              </a:rPr>
              <a:t>Resolved after the Task role fix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4652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C697A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9900"/>
                </a:solidFill>
                <a:latin typeface="Aptos"/>
              </a:rPr>
              <a:t>PART 3 •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03E"/>
                </a:solidFill>
                <a:latin typeface="Aptos Display"/>
              </a:rPr>
              <a:t>Before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07008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C697A"/>
                </a:solidFill>
                <a:latin typeface="Aptos"/>
              </a:rPr>
              <a:t>Hardening items documented in the supplied project deck.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342900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1" y="2011680"/>
            <a:ext cx="457200" cy="457200"/>
          </a:xfrm>
          <a:prstGeom prst="ellipse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2093976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F8FAFC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99031" y="1993392"/>
            <a:ext cx="2331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4203E"/>
                </a:solidFill>
                <a:latin typeface="Aptos"/>
              </a:rPr>
              <a:t>Least-privilege IAM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99031" y="2331720"/>
            <a:ext cx="2423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69" b="0">
                <a:solidFill>
                  <a:srgbClr val="5C697A"/>
                </a:solidFill>
                <a:latin typeface="Aptos"/>
              </a:rPr>
              <a:t>Replace broad ECS/SSM managed policies with custom policies.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828800"/>
            <a:ext cx="342900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99432" y="2011680"/>
            <a:ext cx="457200" cy="457200"/>
          </a:xfrm>
          <a:prstGeom prst="ellipse">
            <a:avLst/>
          </a:prstGeom>
          <a:solidFill>
            <a:srgbClr val="4D90FF"/>
          </a:solidFill>
          <a:ln>
            <a:solidFill>
              <a:srgbClr val="4D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2093976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F8FAFC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93792" y="1993392"/>
            <a:ext cx="2331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4203E"/>
                </a:solidFill>
                <a:latin typeface="Aptos"/>
              </a:rPr>
              <a:t>Private ECS tasks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93792" y="2331720"/>
            <a:ext cx="2423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69" b="0">
                <a:solidFill>
                  <a:srgbClr val="5C697A"/>
                </a:solidFill>
                <a:latin typeface="Aptos"/>
              </a:rPr>
              <a:t>Only the ALB should be public; app tasks should not have public IPs.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828800"/>
            <a:ext cx="342900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94192" y="2011680"/>
            <a:ext cx="457200" cy="457200"/>
          </a:xfrm>
          <a:prstGeom prst="ellipse">
            <a:avLst/>
          </a:prstGeom>
          <a:solidFill>
            <a:srgbClr val="00C4B4"/>
          </a:solidFill>
          <a:ln>
            <a:solidFill>
              <a:srgbClr val="00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4192" y="2093976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F8FAFC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88552" y="1993392"/>
            <a:ext cx="2331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4203E"/>
                </a:solidFill>
                <a:latin typeface="Aptos"/>
              </a:rPr>
              <a:t>HTTPS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88552" y="2331720"/>
            <a:ext cx="2423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69" b="0">
                <a:solidFill>
                  <a:srgbClr val="5C697A"/>
                </a:solidFill>
                <a:latin typeface="Aptos"/>
              </a:rPr>
              <a:t>ACM certificate + 443 listener; redirect HTTP → HTTPS.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657600"/>
            <a:ext cx="342900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04671" y="3840480"/>
            <a:ext cx="457200" cy="457200"/>
          </a:xfrm>
          <a:prstGeom prst="ellipse">
            <a:avLst/>
          </a:prstGeom>
          <a:solidFill>
            <a:srgbClr val="4AB37E"/>
          </a:solidFill>
          <a:ln>
            <a:solidFill>
              <a:srgbClr val="4AB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1" y="3922776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F8FAFC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99031" y="3822191"/>
            <a:ext cx="2331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4203E"/>
                </a:solidFill>
                <a:latin typeface="Aptos"/>
              </a:rPr>
              <a:t>Automated deploy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99031" y="4160520"/>
            <a:ext cx="2423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69" b="0">
                <a:solidFill>
                  <a:srgbClr val="5C697A"/>
                </a:solidFill>
                <a:latin typeface="Aptos"/>
              </a:rPr>
              <a:t>Trigger on push to main and force a new ECS deployment.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34840" y="3657600"/>
            <a:ext cx="342900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599432" y="3840480"/>
            <a:ext cx="457200" cy="457200"/>
          </a:xfrm>
          <a:prstGeom prst="ellipse">
            <a:avLst/>
          </a:prstGeom>
          <a:solidFill>
            <a:srgbClr val="1C2C4E"/>
          </a:solidFill>
          <a:ln>
            <a:solidFill>
              <a:srgbClr val="1C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99432" y="3922776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F8FAFC"/>
                </a:solidFill>
                <a:latin typeface="Aptos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93792" y="3822191"/>
            <a:ext cx="2331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4203E"/>
                </a:solidFill>
                <a:latin typeface="Aptos"/>
              </a:rPr>
              <a:t>GitHub OIDC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93792" y="4160520"/>
            <a:ext cx="2423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69" b="0">
                <a:solidFill>
                  <a:srgbClr val="5C697A"/>
                </a:solidFill>
                <a:latin typeface="Aptos"/>
              </a:rPr>
              <a:t>Use role federation instead of long-lived static IAM keys.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84280" y="644652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C697A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9900"/>
                </a:solidFill>
                <a:latin typeface="Aptos"/>
              </a:rPr>
              <a:t>ARCHITECTURE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 Display"/>
              </a:rPr>
              <a:t>Production-shaped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07008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AB8CC"/>
                </a:solidFill>
                <a:latin typeface="Aptos"/>
              </a:rPr>
              <a:t>Visual separation of edge, application, data, and delivery layers.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11064240" cy="4434840"/>
          </a:xfrm>
          <a:prstGeom prst="roundRect">
            <a:avLst/>
          </a:prstGeom>
          <a:solidFill>
            <a:srgbClr val="1C2C4E"/>
          </a:solidFill>
          <a:ln w="12700">
            <a:solidFill>
              <a:srgbClr val="364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965960"/>
            <a:ext cx="1097280" cy="310896"/>
          </a:xfrm>
          <a:prstGeom prst="roundRect">
            <a:avLst/>
          </a:prstGeom>
          <a:solidFill>
            <a:srgbClr val="4D90FF"/>
          </a:solidFill>
          <a:ln w="12700">
            <a:solidFill>
              <a:srgbClr val="4D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75103"/>
            <a:ext cx="1097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8FAFC"/>
                </a:solidFill>
                <a:latin typeface="Aptos"/>
              </a:rPr>
              <a:t>INTERNET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487168"/>
            <a:ext cx="141732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7552" y="2633472"/>
            <a:ext cx="530352" cy="530352"/>
          </a:xfrm>
          <a:prstGeom prst="ellipse">
            <a:avLst/>
          </a:prstGeom>
          <a:solidFill>
            <a:srgbClr val="4D90FF"/>
          </a:solidFill>
          <a:ln>
            <a:solidFill>
              <a:srgbClr val="4D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670048"/>
            <a:ext cx="53035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WEB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606040"/>
            <a:ext cx="57607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4203E"/>
                </a:solidFill>
                <a:latin typeface="Aptos"/>
              </a:rPr>
              <a:t>Users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999232"/>
            <a:ext cx="57607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C697A"/>
                </a:solidFill>
                <a:latin typeface="Aptos"/>
              </a:rPr>
              <a:t>Browser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2487168"/>
            <a:ext cx="141732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862072" y="2633472"/>
            <a:ext cx="530352" cy="530352"/>
          </a:xfrm>
          <a:prstGeom prst="ellipse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62072" y="2670048"/>
            <a:ext cx="53035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ALB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606040"/>
            <a:ext cx="57607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4203E"/>
                </a:solidFill>
                <a:latin typeface="Aptos"/>
              </a:rPr>
              <a:t>ALB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999232"/>
            <a:ext cx="57607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C697A"/>
                </a:solidFill>
                <a:latin typeface="Aptos"/>
              </a:rPr>
              <a:t>Public subnet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17720" y="2487168"/>
            <a:ext cx="16002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736592" y="2633472"/>
            <a:ext cx="530352" cy="530352"/>
          </a:xfrm>
          <a:prstGeom prst="ellipse">
            <a:avLst/>
          </a:prstGeom>
          <a:solidFill>
            <a:srgbClr val="00C4B4"/>
          </a:solidFill>
          <a:ln>
            <a:solidFill>
              <a:srgbClr val="00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36592" y="2670048"/>
            <a:ext cx="53035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FE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9240" y="2606040"/>
            <a:ext cx="7589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4203E"/>
                </a:solidFill>
                <a:latin typeface="Aptos"/>
              </a:rPr>
              <a:t>ECS Frontend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9240" y="2999232"/>
            <a:ext cx="75895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C697A"/>
                </a:solidFill>
                <a:latin typeface="Aptos"/>
              </a:rPr>
              <a:t>Private subnet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75120" y="2487168"/>
            <a:ext cx="16002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793992" y="2633472"/>
            <a:ext cx="530352" cy="530352"/>
          </a:xfrm>
          <a:prstGeom prst="ellipse">
            <a:avLst/>
          </a:prstGeom>
          <a:solidFill>
            <a:srgbClr val="4D90FF"/>
          </a:solidFill>
          <a:ln>
            <a:solidFill>
              <a:srgbClr val="4D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93992" y="2670048"/>
            <a:ext cx="53035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API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2606040"/>
            <a:ext cx="7589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4203E"/>
                </a:solidFill>
                <a:latin typeface="Aptos"/>
              </a:rPr>
              <a:t>ECS Backend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2999232"/>
            <a:ext cx="75895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C697A"/>
                </a:solidFill>
                <a:latin typeface="Aptos"/>
              </a:rPr>
              <a:t>Private subnet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732520" y="2487168"/>
            <a:ext cx="164592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851392" y="2633472"/>
            <a:ext cx="530352" cy="530352"/>
          </a:xfrm>
          <a:prstGeom prst="ellipse">
            <a:avLst/>
          </a:prstGeom>
          <a:solidFill>
            <a:srgbClr val="4AB37E"/>
          </a:solidFill>
          <a:ln>
            <a:solidFill>
              <a:srgbClr val="4AB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51392" y="2670048"/>
            <a:ext cx="53035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RDS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64040" y="2606040"/>
            <a:ext cx="80467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14203E"/>
                </a:solidFill>
                <a:latin typeface="Aptos"/>
              </a:rPr>
              <a:t>RDS MySQL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64040" y="2999232"/>
            <a:ext cx="80467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C697A"/>
                </a:solidFill>
                <a:latin typeface="Aptos"/>
              </a:rPr>
              <a:t>Private subnet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286000" y="2971800"/>
            <a:ext cx="411480" cy="0"/>
          </a:xfrm>
          <a:prstGeom prst="line">
            <a:avLst/>
          </a:prstGeom>
          <a:ln w="22860">
            <a:solidFill>
              <a:srgbClr val="F8FA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187952" y="2971800"/>
            <a:ext cx="384048" cy="0"/>
          </a:xfrm>
          <a:prstGeom prst="line">
            <a:avLst/>
          </a:prstGeom>
          <a:ln w="22860">
            <a:solidFill>
              <a:srgbClr val="F8FA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245352" y="2971800"/>
            <a:ext cx="384048" cy="0"/>
          </a:xfrm>
          <a:prstGeom prst="line">
            <a:avLst/>
          </a:prstGeom>
          <a:ln w="22860">
            <a:solidFill>
              <a:srgbClr val="F8FA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321040" y="2971800"/>
            <a:ext cx="365760" cy="0"/>
          </a:xfrm>
          <a:prstGeom prst="line">
            <a:avLst/>
          </a:prstGeom>
          <a:ln w="22860">
            <a:solidFill>
              <a:srgbClr val="F8FA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3931920" y="4251960"/>
            <a:ext cx="1463040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050791" y="4398264"/>
            <a:ext cx="530352" cy="530352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050791" y="4434840"/>
            <a:ext cx="53035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ECR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63440" y="4370832"/>
            <a:ext cx="62179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4203E"/>
                </a:solidFill>
                <a:latin typeface="Aptos"/>
              </a:rPr>
              <a:t>ECR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63440" y="4764024"/>
            <a:ext cx="62179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C697A"/>
                </a:solidFill>
                <a:latin typeface="Aptos"/>
              </a:rPr>
              <a:t>Images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852160" y="4251960"/>
            <a:ext cx="1463040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971032" y="4398264"/>
            <a:ext cx="530352" cy="530352"/>
          </a:xfrm>
          <a:prstGeom prst="ellipse">
            <a:avLst/>
          </a:prstGeom>
          <a:solidFill>
            <a:srgbClr val="4AB37E"/>
          </a:solidFill>
          <a:ln>
            <a:solidFill>
              <a:srgbClr val="4AB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71032" y="4434840"/>
            <a:ext cx="53035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SSM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0" y="4370832"/>
            <a:ext cx="62179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4203E"/>
                </a:solidFill>
                <a:latin typeface="Aptos"/>
              </a:rPr>
              <a:t>SSM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0" y="4764024"/>
            <a:ext cx="62179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C697A"/>
                </a:solidFill>
                <a:latin typeface="Aptos"/>
              </a:rPr>
              <a:t>Secrets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772400" y="4251960"/>
            <a:ext cx="1828800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891272" y="4398264"/>
            <a:ext cx="530352" cy="530352"/>
          </a:xfrm>
          <a:prstGeom prst="ellipse">
            <a:avLst/>
          </a:prstGeom>
          <a:solidFill>
            <a:srgbClr val="1C2C4E"/>
          </a:solidFill>
          <a:ln>
            <a:solidFill>
              <a:srgbClr val="1C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891272" y="4434840"/>
            <a:ext cx="53035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CI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03920" y="4370832"/>
            <a:ext cx="987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4203E"/>
                </a:solidFill>
                <a:latin typeface="Aptos"/>
              </a:rPr>
              <a:t>GitHub Actions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03920" y="4764024"/>
            <a:ext cx="98755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C697A"/>
                </a:solidFill>
                <a:latin typeface="Aptos"/>
              </a:rPr>
              <a:t>CI/CD</a:t>
            </a:r>
          </a:p>
        </p:txBody>
      </p:sp>
      <p:cxnSp>
        <p:nvCxnSpPr>
          <p:cNvPr id="52" name="Connector 51"/>
          <p:cNvCxnSpPr/>
          <p:nvPr/>
        </p:nvCxnSpPr>
        <p:spPr>
          <a:xfrm flipV="1">
            <a:off x="4663440" y="3529584"/>
            <a:ext cx="548640" cy="694944"/>
          </a:xfrm>
          <a:prstGeom prst="line">
            <a:avLst/>
          </a:prstGeom>
          <a:ln w="17780">
            <a:solidFill>
              <a:srgbClr val="FFB74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6583680" y="3529584"/>
            <a:ext cx="685800" cy="694944"/>
          </a:xfrm>
          <a:prstGeom prst="line">
            <a:avLst/>
          </a:prstGeom>
          <a:ln w="17780">
            <a:solidFill>
              <a:srgbClr val="4AB37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 flipV="1">
            <a:off x="8001000" y="3529584"/>
            <a:ext cx="685800" cy="694944"/>
          </a:xfrm>
          <a:prstGeom prst="line">
            <a:avLst/>
          </a:prstGeom>
          <a:ln w="17780">
            <a:solidFill>
              <a:srgbClr val="F8FAF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914400" y="5577840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AAB8CC"/>
                </a:solidFill>
                <a:latin typeface="Aptos"/>
              </a:rPr>
              <a:t>Public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743200" y="5577840"/>
            <a:ext cx="2377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AAB8CC"/>
                </a:solidFill>
                <a:latin typeface="Aptos"/>
              </a:rPr>
              <a:t>Private application + data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406640" y="5577840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AAB8CC"/>
                </a:solidFill>
                <a:latin typeface="Aptos"/>
              </a:rPr>
              <a:t>Delivery &amp; configuration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384280" y="644652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C697A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9900"/>
                </a:solidFill>
                <a:latin typeface="Aptos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03E"/>
                </a:solidFill>
                <a:latin typeface="Aptos Display"/>
              </a:rPr>
              <a:t>Implementation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07008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C697A"/>
                </a:solidFill>
                <a:latin typeface="Aptos"/>
              </a:rPr>
              <a:t>A compact hand-off view for recreating the environment.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2560320" cy="3383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4671" y="2057400"/>
            <a:ext cx="1005840" cy="310896"/>
          </a:xfrm>
          <a:prstGeom prst="roundRect">
            <a:avLst/>
          </a:prstGeom>
          <a:solidFill>
            <a:srgbClr val="4D90FF"/>
          </a:solidFill>
          <a:ln w="12700">
            <a:solidFill>
              <a:srgbClr val="4D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2066543"/>
            <a:ext cx="10058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8FAFC"/>
                </a:solidFill>
                <a:latin typeface="Aptos"/>
              </a:rPr>
              <a:t>NETWORK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697480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D90FF"/>
                </a:solidFill>
                <a:latin typeface="Aptos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679192"/>
            <a:ext cx="1874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40" b="0">
                <a:solidFill>
                  <a:srgbClr val="222D3E"/>
                </a:solidFill>
                <a:latin typeface="Aptos"/>
              </a:rPr>
              <a:t>VPC 10.0.0.0/16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264408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D90FF"/>
                </a:solidFill>
                <a:latin typeface="Aptos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3246120"/>
            <a:ext cx="1874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40" b="0">
                <a:solidFill>
                  <a:srgbClr val="222D3E"/>
                </a:solidFill>
                <a:latin typeface="Aptos"/>
              </a:rPr>
              <a:t>2 public + 2 private subnets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831336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D90FF"/>
                </a:solidFill>
                <a:latin typeface="Apto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3813048"/>
            <a:ext cx="1874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40" b="0">
                <a:solidFill>
                  <a:srgbClr val="222D3E"/>
                </a:solidFill>
                <a:latin typeface="Aptos"/>
              </a:rPr>
              <a:t>Internet Gateway + NAT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1874519"/>
            <a:ext cx="2560320" cy="3383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39312" y="2057400"/>
            <a:ext cx="1005840" cy="310896"/>
          </a:xfrm>
          <a:prstGeom prst="roundRect">
            <a:avLst/>
          </a:prstGeom>
          <a:solidFill>
            <a:srgbClr val="4AB37E"/>
          </a:solidFill>
          <a:ln w="12700">
            <a:solidFill>
              <a:srgbClr val="4AB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39312" y="2066543"/>
            <a:ext cx="10058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8FAFC"/>
                </a:solidFill>
                <a:latin typeface="Aptos"/>
              </a:rPr>
              <a:t>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97480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AB37E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208" y="2679192"/>
            <a:ext cx="1874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22D3E"/>
                </a:solidFill>
                <a:latin typeface="Aptos"/>
              </a:rPr>
              <a:t>RDS MySQL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3264408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AB37E"/>
                </a:solidFill>
                <a:latin typeface="Aptos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50208" y="3246120"/>
            <a:ext cx="1874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40" b="0">
                <a:solidFill>
                  <a:srgbClr val="222D3E"/>
                </a:solidFill>
                <a:latin typeface="Aptos"/>
              </a:rPr>
              <a:t>DB subnet group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3831336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AB37E"/>
                </a:solidFill>
                <a:latin typeface="Apto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50208" y="3813048"/>
            <a:ext cx="1874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40" b="0">
                <a:solidFill>
                  <a:srgbClr val="222D3E"/>
                </a:solidFill>
                <a:latin typeface="Aptos"/>
              </a:rPr>
              <a:t>SSM parameters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1874519"/>
            <a:ext cx="2560320" cy="3383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73952" y="2057400"/>
            <a:ext cx="1005840" cy="310896"/>
          </a:xfrm>
          <a:prstGeom prst="roundRect">
            <a:avLst/>
          </a:prstGeom>
          <a:solidFill>
            <a:srgbClr val="00C4B4"/>
          </a:solidFill>
          <a:ln w="12700">
            <a:solidFill>
              <a:srgbClr val="00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3952" y="2066543"/>
            <a:ext cx="10058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8FAFC"/>
                </a:solidFill>
                <a:latin typeface="Aptos"/>
              </a:rPr>
              <a:t>COMPUTE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2697480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C4B4"/>
                </a:solidFill>
                <a:latin typeface="Aptos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84848" y="2679192"/>
            <a:ext cx="1874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40" b="0">
                <a:solidFill>
                  <a:srgbClr val="222D3E"/>
                </a:solidFill>
                <a:latin typeface="Aptos"/>
              </a:rPr>
              <a:t>ECS Fargate cluster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264408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C4B4"/>
                </a:solidFill>
                <a:latin typeface="Aptos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84848" y="3246120"/>
            <a:ext cx="1874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40" b="0">
                <a:solidFill>
                  <a:srgbClr val="222D3E"/>
                </a:solidFill>
                <a:latin typeface="Aptos"/>
              </a:rPr>
              <a:t>Backend + frontend services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3831336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C4B4"/>
                </a:solidFill>
                <a:latin typeface="Aptos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84848" y="3813048"/>
            <a:ext cx="1874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40" b="0">
                <a:solidFill>
                  <a:srgbClr val="222D3E"/>
                </a:solidFill>
                <a:latin typeface="Aptos"/>
              </a:rPr>
              <a:t>Task + execution roles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0" y="1874519"/>
            <a:ext cx="2560320" cy="3383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308592" y="2057400"/>
            <a:ext cx="1005840" cy="310896"/>
          </a:xfrm>
          <a:prstGeom prst="roundRect">
            <a:avLst/>
          </a:prstGeom>
          <a:solidFill>
            <a:srgbClr val="FF9900"/>
          </a:solidFill>
          <a:ln w="127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08592" y="2066543"/>
            <a:ext cx="10058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8FAFC"/>
                </a:solidFill>
                <a:latin typeface="Aptos"/>
              </a:rPr>
              <a:t>PIPELINE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0" y="2697480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9900"/>
                </a:solidFill>
                <a:latin typeface="Aptos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19488" y="2679192"/>
            <a:ext cx="1874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222D3E"/>
                </a:solidFill>
                <a:latin typeface="Aptos"/>
              </a:rPr>
              <a:t>GitHub Actions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0" y="3264408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9900"/>
                </a:solidFill>
                <a:latin typeface="Aptos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19488" y="3246120"/>
            <a:ext cx="1874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40" b="0">
                <a:solidFill>
                  <a:srgbClr val="222D3E"/>
                </a:solidFill>
                <a:latin typeface="Aptos"/>
              </a:rPr>
              <a:t>ECR image push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0" y="3831336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9900"/>
                </a:solidFill>
                <a:latin typeface="Aptos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19488" y="3813048"/>
            <a:ext cx="1874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40" b="0">
                <a:solidFill>
                  <a:srgbClr val="222D3E"/>
                </a:solidFill>
                <a:latin typeface="Aptos"/>
              </a:rPr>
              <a:t>Manual workflow dispatch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5715000"/>
            <a:ext cx="10607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C697A"/>
                </a:solidFill>
                <a:latin typeface="Aptos"/>
              </a:rPr>
              <a:t>The supplied project notes describe a working development environment and a documented path toward production.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84280" y="644652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C697A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9900"/>
                </a:solidFill>
                <a:latin typeface="Aptos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 Display"/>
              </a:rPr>
              <a:t>What the deployment demonstrates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07008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AB8CC"/>
                </a:solidFill>
                <a:latin typeface="Aptos"/>
              </a:rPr>
              <a:t>A practical three-tier container deployment with managed AWS services.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2011680" cy="1188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50392" y="2066544"/>
            <a:ext cx="530352" cy="530352"/>
          </a:xfrm>
          <a:prstGeom prst="ellipse">
            <a:avLst/>
          </a:prstGeom>
          <a:solidFill>
            <a:srgbClr val="00C4B4"/>
          </a:solidFill>
          <a:ln>
            <a:solidFill>
              <a:srgbClr val="00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2103120"/>
            <a:ext cx="53035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FE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039112"/>
            <a:ext cx="117043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14203E"/>
                </a:solidFill>
                <a:latin typeface="Aptos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432304"/>
            <a:ext cx="117043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C697A"/>
                </a:solidFill>
                <a:latin typeface="Aptos"/>
              </a:rPr>
              <a:t>React + nginx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0" y="1920240"/>
            <a:ext cx="2011680" cy="1188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227832" y="2066544"/>
            <a:ext cx="530352" cy="530352"/>
          </a:xfrm>
          <a:prstGeom prst="ellipse">
            <a:avLst/>
          </a:prstGeom>
          <a:solidFill>
            <a:srgbClr val="4D90FF"/>
          </a:solidFill>
          <a:ln>
            <a:solidFill>
              <a:srgbClr val="4D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27832" y="2103120"/>
            <a:ext cx="53035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039112"/>
            <a:ext cx="117043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14203E"/>
                </a:solidFill>
                <a:latin typeface="Aptos"/>
              </a:rPr>
              <a:t>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432304"/>
            <a:ext cx="117043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C697A"/>
                </a:solidFill>
                <a:latin typeface="Aptos"/>
              </a:rPr>
              <a:t>Node / Express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0" y="1920240"/>
            <a:ext cx="2011680" cy="1188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605272" y="2066544"/>
            <a:ext cx="530352" cy="530352"/>
          </a:xfrm>
          <a:prstGeom prst="ellipse">
            <a:avLst/>
          </a:prstGeom>
          <a:solidFill>
            <a:srgbClr val="4AB37E"/>
          </a:solidFill>
          <a:ln>
            <a:solidFill>
              <a:srgbClr val="4AB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05272" y="2103120"/>
            <a:ext cx="53035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039112"/>
            <a:ext cx="117043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4203E"/>
                </a:solidFill>
                <a:latin typeface="Aptos"/>
              </a:rPr>
              <a:t>Database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432304"/>
            <a:ext cx="117043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C697A"/>
                </a:solidFill>
                <a:latin typeface="Aptos"/>
              </a:rPr>
              <a:t>MySQL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0" y="1920240"/>
            <a:ext cx="1645920" cy="1188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982712" y="2066544"/>
            <a:ext cx="530352" cy="530352"/>
          </a:xfrm>
          <a:prstGeom prst="ellipse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82712" y="2103120"/>
            <a:ext cx="53035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ECR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2039112"/>
            <a:ext cx="80467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4203E"/>
                </a:solidFill>
                <a:latin typeface="Aptos"/>
              </a:rPr>
              <a:t>Images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2432304"/>
            <a:ext cx="80467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C697A"/>
                </a:solidFill>
                <a:latin typeface="Aptos"/>
              </a:rPr>
              <a:t>Docker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29800" y="1920240"/>
            <a:ext cx="1645920" cy="1188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948672" y="2066544"/>
            <a:ext cx="530352" cy="530352"/>
          </a:xfrm>
          <a:prstGeom prst="ellipse">
            <a:avLst/>
          </a:prstGeom>
          <a:solidFill>
            <a:srgbClr val="4AB37E"/>
          </a:solidFill>
          <a:ln>
            <a:solidFill>
              <a:srgbClr val="4AB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48672" y="2103120"/>
            <a:ext cx="53035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SSM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61320" y="2039112"/>
            <a:ext cx="80467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4203E"/>
                </a:solidFill>
                <a:latin typeface="Aptos"/>
              </a:rPr>
              <a:t>Config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61320" y="2432304"/>
            <a:ext cx="80467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C697A"/>
                </a:solidFill>
                <a:latin typeface="Aptos"/>
              </a:rPr>
              <a:t>Parameters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3703320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  <a:latin typeface="Aptos"/>
              </a:rPr>
              <a:t>ECS Fargate + ALB provide the runtime path; GitHub Actions builds and pushes images; RDS and Parameter Store provide managed data and configuration.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7492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AB8CC"/>
                </a:solidFill>
                <a:latin typeface="Aptos"/>
              </a:rPr>
              <a:t>Production follow-up: least privilege • private tasks • HTTPS • automated deployment • OIDC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84280" y="644652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C697A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23444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14203E"/>
                </a:solidFill>
                <a:latin typeface="Aptos Display"/>
              </a:rPr>
              <a:t>AWS ECS CI/CD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74519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9900"/>
                </a:solidFill>
                <a:latin typeface="Aptos"/>
              </a:rPr>
              <a:t>Student–Teacher Portal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487168"/>
            <a:ext cx="9966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C697A"/>
                </a:solidFill>
                <a:latin typeface="Aptos"/>
              </a:rPr>
              <a:t>Frontend + backend live on ECS Fargate behind an ALB, backed by RDS, built via GitHub Actions.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34440" y="3657600"/>
            <a:ext cx="169164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3803904"/>
            <a:ext cx="530352" cy="530352"/>
          </a:xfrm>
          <a:prstGeom prst="ellipse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53312" y="3840480"/>
            <a:ext cx="53035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ALB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3776472"/>
            <a:ext cx="85039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4203E"/>
                </a:solidFill>
                <a:latin typeface="Aptos"/>
              </a:rPr>
              <a:t>ALB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3657600"/>
            <a:ext cx="169164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410712" y="3803904"/>
            <a:ext cx="530352" cy="530352"/>
          </a:xfrm>
          <a:prstGeom prst="ellipse">
            <a:avLst/>
          </a:prstGeom>
          <a:solidFill>
            <a:srgbClr val="4D90FF"/>
          </a:solidFill>
          <a:ln>
            <a:solidFill>
              <a:srgbClr val="4D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10712" y="3840480"/>
            <a:ext cx="53035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ECS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3776472"/>
            <a:ext cx="85039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4203E"/>
                </a:solidFill>
                <a:latin typeface="Aptos"/>
              </a:rPr>
              <a:t>ECS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49240" y="3657600"/>
            <a:ext cx="169164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468112" y="3803904"/>
            <a:ext cx="530352" cy="530352"/>
          </a:xfrm>
          <a:prstGeom prst="ellipse">
            <a:avLst/>
          </a:prstGeom>
          <a:solidFill>
            <a:srgbClr val="4AB37E"/>
          </a:solidFill>
          <a:ln>
            <a:solidFill>
              <a:srgbClr val="4AB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68112" y="3840480"/>
            <a:ext cx="53035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59" y="3776472"/>
            <a:ext cx="85039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4203E"/>
                </a:solidFill>
                <a:latin typeface="Aptos"/>
              </a:rPr>
              <a:t>RDS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0" y="3657600"/>
            <a:ext cx="169164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525512" y="3803904"/>
            <a:ext cx="530352" cy="530352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5512" y="3840480"/>
            <a:ext cx="53035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ECR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3776472"/>
            <a:ext cx="85039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4203E"/>
                </a:solidFill>
                <a:latin typeface="Aptos"/>
              </a:rPr>
              <a:t>ECR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64040" y="3657600"/>
            <a:ext cx="169164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582912" y="3803904"/>
            <a:ext cx="530352" cy="530352"/>
          </a:xfrm>
          <a:prstGeom prst="ellipse">
            <a:avLst/>
          </a:prstGeom>
          <a:solidFill>
            <a:srgbClr val="00C4B4"/>
          </a:solidFill>
          <a:ln>
            <a:solidFill>
              <a:srgbClr val="00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82912" y="3840480"/>
            <a:ext cx="53035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SSM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95560" y="3776472"/>
            <a:ext cx="85039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4203E"/>
                </a:solidFill>
                <a:latin typeface="Aptos"/>
              </a:rPr>
              <a:t>SSM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76072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C697A"/>
                </a:solidFill>
                <a:latin typeface="Aptos"/>
              </a:rPr>
              <a:t>Updated visual deck • AWS-style service tiles • clearer architecture flows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84280" y="644652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C697A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